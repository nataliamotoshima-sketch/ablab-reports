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  <p:sldMasterId id="214748367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10287000" cx="18288000"/>
  <p:notesSz cx="6858000" cy="9144000"/>
  <p:embeddedFontLst>
    <p:embeddedFont>
      <p:font typeface="Roboto Black"/>
      <p:bold r:id="rId21"/>
      <p:boldItalic r:id="rId22"/>
    </p:embeddedFont>
    <p:embeddedFont>
      <p:font typeface="Roboto Thin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97">
          <p15:clr>
            <a:srgbClr val="747775"/>
          </p15:clr>
        </p15:guide>
        <p15:guide id="2" orient="horz" pos="4687">
          <p15:clr>
            <a:srgbClr val="747775"/>
          </p15:clr>
        </p15:guide>
        <p15:guide id="3" pos="11400">
          <p15:clr>
            <a:srgbClr val="747775"/>
          </p15:clr>
        </p15:guide>
        <p15:guide id="4" orient="horz" pos="4687">
          <p15:clr>
            <a:srgbClr val="747775"/>
          </p15:clr>
        </p15:guide>
        <p15:guide id="5" pos="5262">
          <p15:clr>
            <a:srgbClr val="747775"/>
          </p15:clr>
        </p15:guide>
        <p15:guide id="6" orient="horz" pos="1587">
          <p15:clr>
            <a:srgbClr val="747775"/>
          </p15:clr>
        </p15:guide>
        <p15:guide id="7" pos="5138">
          <p15:clr>
            <a:srgbClr val="747775"/>
          </p15:clr>
        </p15:guide>
        <p15:guide id="8" pos="11295">
          <p15:clr>
            <a:srgbClr val="747775"/>
          </p15:clr>
        </p15:guide>
        <p15:guide id="9" orient="horz" pos="462">
          <p15:clr>
            <a:srgbClr val="747775"/>
          </p15:clr>
        </p15:guide>
        <p15:guide id="10" orient="horz" pos="4556">
          <p15:clr>
            <a:srgbClr val="747775"/>
          </p15:clr>
        </p15:guide>
        <p15:guide id="11" pos="100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6BDCDD-6AC9-426E-AE4F-3334DCACC9B4}">
  <a:tblStyle styleId="{626BDCDD-6AC9-426E-AE4F-3334DCACC9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68506B4-DBC4-4560-8028-80199286882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7"/>
        <p:guide pos="4687" orient="horz"/>
        <p:guide pos="11400"/>
        <p:guide pos="4687" orient="horz"/>
        <p:guide pos="5262"/>
        <p:guide pos="1587" orient="horz"/>
        <p:guide pos="5138"/>
        <p:guide pos="11295"/>
        <p:guide pos="462" orient="horz"/>
        <p:guide pos="4556" orient="horz"/>
        <p:guide pos="10085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2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font" Target="fonts/RobotoBlack-boldItalic.fntdata"/><Relationship Id="rId44" Type="http://schemas.openxmlformats.org/officeDocument/2006/relationships/font" Target="fonts/Oswald-bold.fntdata"/><Relationship Id="rId21" Type="http://schemas.openxmlformats.org/officeDocument/2006/relationships/font" Target="fonts/RobotoBlack-bold.fntdata"/><Relationship Id="rId43" Type="http://schemas.openxmlformats.org/officeDocument/2006/relationships/font" Target="fonts/Oswald-regular.fntdata"/><Relationship Id="rId24" Type="http://schemas.openxmlformats.org/officeDocument/2006/relationships/font" Target="fonts/RobotoThin-bold.fntdata"/><Relationship Id="rId23" Type="http://schemas.openxmlformats.org/officeDocument/2006/relationships/font" Target="fonts/RobotoThi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obotoThin-boldItalic.fntdata"/><Relationship Id="rId25" Type="http://schemas.openxmlformats.org/officeDocument/2006/relationships/font" Target="fonts/RobotoThin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3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2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5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4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7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6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9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8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50a92601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50a9260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36901498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36901498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1e2b0bcf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51e2b0b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3b7f533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3b7f533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cfe266c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cfe266c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b87d17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b87d17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325bd57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325bd57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cac60b605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ccac60b605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cf929bd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ccf929bd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e2a2985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e2a2985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b60ee2ecb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eb60ee2ecb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://ablab.com.br" TargetMode="External"/><Relationship Id="rId6" Type="http://schemas.openxmlformats.org/officeDocument/2006/relationships/hyperlink" Target="https://www.instagram.com/agenciaablab/" TargetMode="External"/><Relationship Id="rId7" Type="http://schemas.openxmlformats.org/officeDocument/2006/relationships/image" Target="../media/image6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://ablab.com.br" TargetMode="External"/><Relationship Id="rId6" Type="http://schemas.openxmlformats.org/officeDocument/2006/relationships/hyperlink" Target="https://www.instagram.com/agenciaablab/" TargetMode="External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01005" y="8894897"/>
            <a:ext cx="16478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b="1" sz="2800"/>
            </a:lvl1pPr>
            <a:lvl2pPr indent="-330200" lvl="1" marL="914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2pPr>
            <a:lvl3pPr indent="-330200" lvl="2" marL="1371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3pPr>
            <a:lvl4pPr indent="-330200" lvl="3" marL="1828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4pPr>
            <a:lvl5pPr indent="-330200" lvl="4" marL="22860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5pPr>
            <a:lvl6pPr indent="-33020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6pPr>
            <a:lvl7pPr indent="-33020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7pPr>
            <a:lvl8pPr indent="-33020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8pPr>
            <a:lvl9pPr indent="-33020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904872" y="1931243"/>
            <a:ext cx="16478400" cy="34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  <a:defRPr sz="88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901007" y="5417393"/>
            <a:ext cx="164784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1" sz="42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1" sz="42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1" sz="42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1" sz="42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1" sz="4200"/>
            </a:lvl5pPr>
            <a:lvl6pPr indent="-33020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6pPr>
            <a:lvl7pPr indent="-33020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7pPr>
            <a:lvl8pPr indent="-33020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8pPr>
            <a:lvl9pPr indent="-33020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9001124" y="9810749"/>
            <a:ext cx="27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1">
  <p:cSld name="Capa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89583" l="27970" r="54452" t="0"/>
          <a:stretch/>
        </p:blipFill>
        <p:spPr>
          <a:xfrm>
            <a:off x="928688" y="57150"/>
            <a:ext cx="3214685" cy="107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1326697" y="245588"/>
            <a:ext cx="38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</a:rPr>
              <a:t>Business Driven Agency | 2023</a:t>
            </a:r>
            <a:endParaRPr b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1">
  <p:cSld name="Título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901005" y="8894897"/>
            <a:ext cx="16478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b="1" sz="2700"/>
            </a:lvl1pPr>
            <a:lvl2pPr indent="-336550" lvl="1" marL="914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2pPr>
            <a:lvl3pPr indent="-336550" lvl="2" marL="1371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3pPr>
            <a:lvl4pPr indent="-336550" lvl="3" marL="1828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4pPr>
            <a:lvl5pPr indent="-336550" lvl="4" marL="22860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type="title"/>
          </p:nvPr>
        </p:nvSpPr>
        <p:spPr>
          <a:xfrm>
            <a:off x="904872" y="1931243"/>
            <a:ext cx="164784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Helvetica Neue"/>
              <a:buNone/>
              <a:defRPr sz="87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901007" y="5417393"/>
            <a:ext cx="16478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9001124" y="9810749"/>
            <a:ext cx="27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4">
  <p:cSld name="TITLE_3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901005" y="8894897"/>
            <a:ext cx="16478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b="1" sz="2700"/>
            </a:lvl1pPr>
            <a:lvl2pPr indent="-336550" lvl="1" marL="914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2pPr>
            <a:lvl3pPr indent="-336550" lvl="2" marL="1371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3pPr>
            <a:lvl4pPr indent="-336550" lvl="3" marL="1828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4pPr>
            <a:lvl5pPr indent="-336550" lvl="4" marL="22860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type="title"/>
          </p:nvPr>
        </p:nvSpPr>
        <p:spPr>
          <a:xfrm>
            <a:off x="904872" y="1931243"/>
            <a:ext cx="164784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Helvetica Neue"/>
              <a:buNone/>
              <a:defRPr sz="87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901007" y="5417393"/>
            <a:ext cx="16478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9001124" y="9810749"/>
            <a:ext cx="27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5">
  <p:cSld name="TITLE_4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901005" y="8894897"/>
            <a:ext cx="16478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b="1" sz="2700"/>
            </a:lvl1pPr>
            <a:lvl2pPr indent="-336550" lvl="1" marL="914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2pPr>
            <a:lvl3pPr indent="-336550" lvl="2" marL="1371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3pPr>
            <a:lvl4pPr indent="-336550" lvl="3" marL="1828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4pPr>
            <a:lvl5pPr indent="-336550" lvl="4" marL="22860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type="title"/>
          </p:nvPr>
        </p:nvSpPr>
        <p:spPr>
          <a:xfrm>
            <a:off x="904872" y="1931243"/>
            <a:ext cx="164784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Helvetica Neue"/>
              <a:buNone/>
              <a:defRPr sz="87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901007" y="5417393"/>
            <a:ext cx="16478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Helvetica Neue"/>
              <a:buNone/>
              <a:defRPr b="1" sz="4100"/>
            </a:lvl5pPr>
            <a:lvl6pPr indent="-336550" lvl="5" marL="27432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6pPr>
            <a:lvl7pPr indent="-336550" lvl="6" marL="32004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7pPr>
            <a:lvl8pPr indent="-336550" lvl="7" marL="36576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8pPr>
            <a:lvl9pPr indent="-336550" lvl="8" marL="4114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9001124" y="9810749"/>
            <a:ext cx="27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-39"/>
            <a:ext cx="18288005" cy="1028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825" y="5708805"/>
            <a:ext cx="7694894" cy="13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6625" y="5556540"/>
            <a:ext cx="1495325" cy="14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1"/>
          <p:cNvSpPr/>
          <p:nvPr/>
        </p:nvSpPr>
        <p:spPr>
          <a:xfrm>
            <a:off x="4227600" y="5378800"/>
            <a:ext cx="2950800" cy="2048400"/>
          </a:xfrm>
          <a:prstGeom prst="rect">
            <a:avLst/>
          </a:prstGeom>
          <a:solidFill>
            <a:srgbClr val="FCFBF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83" name="Google Shape;83;p21"/>
          <p:cNvPicPr preferRelativeResize="0"/>
          <p:nvPr/>
        </p:nvPicPr>
        <p:blipFill rotWithShape="1">
          <a:blip r:embed="rId5">
            <a:alphaModFix/>
          </a:blip>
          <a:srcRect b="8011" l="12367" r="12360" t="8011"/>
          <a:stretch/>
        </p:blipFill>
        <p:spPr>
          <a:xfrm>
            <a:off x="3911651" y="5378800"/>
            <a:ext cx="3264139" cy="20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2"/>
          <p:cNvGrpSpPr/>
          <p:nvPr/>
        </p:nvGrpSpPr>
        <p:grpSpPr>
          <a:xfrm>
            <a:off x="16648615" y="191842"/>
            <a:ext cx="1437004" cy="264572"/>
            <a:chOff x="5037550" y="3023250"/>
            <a:chExt cx="3315653" cy="610738"/>
          </a:xfrm>
        </p:grpSpPr>
        <p:pic>
          <p:nvPicPr>
            <p:cNvPr id="86" name="Google Shape;86;p22"/>
            <p:cNvPicPr preferRelativeResize="0"/>
            <p:nvPr/>
          </p:nvPicPr>
          <p:blipFill rotWithShape="1">
            <a:blip r:embed="rId2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2"/>
            <p:cNvPicPr preferRelativeResize="0"/>
            <p:nvPr/>
          </p:nvPicPr>
          <p:blipFill rotWithShape="1">
            <a:blip r:embed="rId2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2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 1">
  <p:cSld name="TITLE_1_1">
    <p:bg>
      <p:bgPr>
        <a:solidFill>
          <a:srgbClr val="40374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CFBF3"/>
                </a:solidFill>
                <a:latin typeface="Roboto"/>
                <a:ea typeface="Roboto"/>
                <a:cs typeface="Roboto"/>
                <a:sym typeface="Roboto"/>
              </a:rPr>
              <a:t>TÍTULO DA APRESENTAÇÃO • MUDAR ANTES DE COMEÇAR</a:t>
            </a:r>
            <a:endParaRPr sz="1000">
              <a:solidFill>
                <a:srgbClr val="FCFB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3"/>
          <p:cNvPicPr preferRelativeResize="0"/>
          <p:nvPr/>
        </p:nvPicPr>
        <p:blipFill rotWithShape="1">
          <a:blip r:embed="rId3">
            <a:alphaModFix/>
          </a:blip>
          <a:srcRect b="0" l="0" r="52320" t="0"/>
          <a:stretch/>
        </p:blipFill>
        <p:spPr>
          <a:xfrm>
            <a:off x="16649912" y="196950"/>
            <a:ext cx="712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3"/>
          <p:cNvPicPr preferRelativeResize="0"/>
          <p:nvPr/>
        </p:nvPicPr>
        <p:blipFill rotWithShape="1">
          <a:blip r:embed="rId3">
            <a:alphaModFix/>
          </a:blip>
          <a:srcRect b="4280" l="54518" r="-2198" t="-4280"/>
          <a:stretch/>
        </p:blipFill>
        <p:spPr>
          <a:xfrm>
            <a:off x="17389768" y="191523"/>
            <a:ext cx="7122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 1 1">
  <p:cSld name="TITLE_1_1_1">
    <p:bg>
      <p:bgPr>
        <a:solidFill>
          <a:srgbClr val="40374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4"/>
          <p:cNvPicPr preferRelativeResize="0"/>
          <p:nvPr/>
        </p:nvPicPr>
        <p:blipFill rotWithShape="1">
          <a:blip r:embed="rId2">
            <a:alphaModFix amt="14000"/>
          </a:blip>
          <a:srcRect b="27751" l="23950" r="1323" t="1110"/>
          <a:stretch/>
        </p:blipFill>
        <p:spPr>
          <a:xfrm>
            <a:off x="0" y="0"/>
            <a:ext cx="1722222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9506" y="4244624"/>
            <a:ext cx="2355500" cy="147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4"/>
          <p:cNvGrpSpPr/>
          <p:nvPr/>
        </p:nvGrpSpPr>
        <p:grpSpPr>
          <a:xfrm>
            <a:off x="15157084" y="3682980"/>
            <a:ext cx="2355526" cy="420869"/>
            <a:chOff x="8324956" y="95761"/>
            <a:chExt cx="726028" cy="129714"/>
          </a:xfrm>
        </p:grpSpPr>
        <p:pic>
          <p:nvPicPr>
            <p:cNvPr id="99" name="Google Shape;99;p24"/>
            <p:cNvPicPr preferRelativeResize="0"/>
            <p:nvPr/>
          </p:nvPicPr>
          <p:blipFill rotWithShape="1">
            <a:blip r:embed="rId4">
              <a:alphaModFix/>
            </a:blip>
            <a:srcRect b="0" l="0" r="52320" t="0"/>
            <a:stretch/>
          </p:blipFill>
          <p:spPr>
            <a:xfrm>
              <a:off x="8324956" y="98475"/>
              <a:ext cx="35610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24"/>
            <p:cNvPicPr preferRelativeResize="0"/>
            <p:nvPr/>
          </p:nvPicPr>
          <p:blipFill rotWithShape="1">
            <a:blip r:embed="rId4">
              <a:alphaModFix/>
            </a:blip>
            <a:srcRect b="4280" l="54518" r="-2198" t="-4280"/>
            <a:stretch/>
          </p:blipFill>
          <p:spPr>
            <a:xfrm>
              <a:off x="8694884" y="95761"/>
              <a:ext cx="356100" cy="12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24"/>
          <p:cNvSpPr txBox="1"/>
          <p:nvPr/>
        </p:nvSpPr>
        <p:spPr>
          <a:xfrm>
            <a:off x="10511747" y="9451450"/>
            <a:ext cx="69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pt-BR" u="sng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ablab.com.br</a:t>
            </a:r>
            <a:r>
              <a:rPr lang="pt-BR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 xml:space="preserve"> • +55 11 3060.5890</a:t>
            </a:r>
            <a:endParaRPr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i="0" lang="pt-BR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 xml:space="preserve">rua </a:t>
            </a:r>
            <a:r>
              <a:rPr lang="pt-BR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cardeal arcoverde, 359 - 11º andar - pinheiros</a:t>
            </a:r>
            <a:r>
              <a:rPr i="0" lang="pt-BR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, sp</a:t>
            </a:r>
            <a:endParaRPr i="0" sz="10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2" name="Google Shape;102;p24"/>
          <p:cNvSpPr txBox="1"/>
          <p:nvPr/>
        </p:nvSpPr>
        <p:spPr>
          <a:xfrm>
            <a:off x="14937774" y="5834513"/>
            <a:ext cx="269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CFBF3"/>
                </a:solidFill>
                <a:uFill>
                  <a:noFill/>
                </a:uFill>
                <a:latin typeface="Roboto Black"/>
                <a:ea typeface="Roboto Black"/>
                <a:cs typeface="Roboto Black"/>
                <a:sym typeface="Roboto Blac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@agenciaablab</a:t>
            </a:r>
            <a:endParaRPr sz="4000">
              <a:solidFill>
                <a:srgbClr val="FCFBF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880200" y="3875250"/>
            <a:ext cx="88467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2662"/>
              </a:buClr>
              <a:buSzPts val="21200"/>
              <a:buFont typeface="Arial"/>
              <a:buNone/>
            </a:pPr>
            <a:r>
              <a:rPr i="0" lang="pt-BR" sz="15000" u="none" cap="none" strike="noStrike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rPr>
              <a:t>obrigad</a:t>
            </a:r>
            <a:endParaRPr i="0" sz="15000" u="none" cap="none" strike="noStrike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2100" y="5722725"/>
            <a:ext cx="1956900" cy="1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Char char="●"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Char char="○"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Char char="■"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Char char="●"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Char char="○"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Char char="■"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Char char="●"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Char char="○"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Char char="■"/>
              <a:defRPr sz="10400"/>
            </a:lvl9pPr>
          </a:lstStyle>
          <a:p/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 2">
  <p:cSld name="Slide de título 1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6"/>
          <p:cNvGrpSpPr/>
          <p:nvPr/>
        </p:nvGrpSpPr>
        <p:grpSpPr>
          <a:xfrm>
            <a:off x="16648614" y="191841"/>
            <a:ext cx="1437004" cy="264572"/>
            <a:chOff x="5037550" y="3023250"/>
            <a:chExt cx="3315652" cy="610738"/>
          </a:xfrm>
        </p:grpSpPr>
        <p:pic>
          <p:nvPicPr>
            <p:cNvPr id="111" name="Google Shape;111;p26"/>
            <p:cNvPicPr preferRelativeResize="0"/>
            <p:nvPr/>
          </p:nvPicPr>
          <p:blipFill rotWithShape="1">
            <a:blip r:embed="rId2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26"/>
            <p:cNvPicPr preferRelativeResize="0"/>
            <p:nvPr/>
          </p:nvPicPr>
          <p:blipFill rotWithShape="1">
            <a:blip r:embed="rId2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26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7" name="Google Shape;117;p2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-39"/>
            <a:ext cx="18288005" cy="1028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825" y="5708805"/>
            <a:ext cx="7694894" cy="13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6625" y="5556540"/>
            <a:ext cx="1495325" cy="14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/>
          <p:nvPr/>
        </p:nvSpPr>
        <p:spPr>
          <a:xfrm>
            <a:off x="4227600" y="5378800"/>
            <a:ext cx="2950800" cy="2048400"/>
          </a:xfrm>
          <a:prstGeom prst="rect">
            <a:avLst/>
          </a:prstGeom>
          <a:solidFill>
            <a:srgbClr val="FCFBF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25" name="Google Shape;125;p29"/>
          <p:cNvPicPr preferRelativeResize="0"/>
          <p:nvPr/>
        </p:nvPicPr>
        <p:blipFill rotWithShape="1">
          <a:blip r:embed="rId5">
            <a:alphaModFix/>
          </a:blip>
          <a:srcRect b="8011" l="12367" r="12360" t="8011"/>
          <a:stretch/>
        </p:blipFill>
        <p:spPr>
          <a:xfrm>
            <a:off x="3911651" y="5378800"/>
            <a:ext cx="3264139" cy="20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30"/>
          <p:cNvGrpSpPr/>
          <p:nvPr/>
        </p:nvGrpSpPr>
        <p:grpSpPr>
          <a:xfrm>
            <a:off x="16648615" y="191842"/>
            <a:ext cx="1437004" cy="264572"/>
            <a:chOff x="5037550" y="3023250"/>
            <a:chExt cx="3315653" cy="610738"/>
          </a:xfrm>
        </p:grpSpPr>
        <p:pic>
          <p:nvPicPr>
            <p:cNvPr id="128" name="Google Shape;128;p30"/>
            <p:cNvPicPr preferRelativeResize="0"/>
            <p:nvPr/>
          </p:nvPicPr>
          <p:blipFill rotWithShape="1">
            <a:blip r:embed="rId2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30"/>
            <p:cNvPicPr preferRelativeResize="0"/>
            <p:nvPr/>
          </p:nvPicPr>
          <p:blipFill rotWithShape="1">
            <a:blip r:embed="rId2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30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TÍTULO DA APRESENTAÇÃO • MUDAR ANTES DE COMEÇAR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 1">
  <p:cSld name="TITLE_1_1">
    <p:bg>
      <p:bgPr>
        <a:solidFill>
          <a:srgbClr val="40374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CFBF3"/>
                </a:solidFill>
                <a:latin typeface="Roboto"/>
                <a:ea typeface="Roboto"/>
                <a:cs typeface="Roboto"/>
                <a:sym typeface="Roboto"/>
              </a:rPr>
              <a:t>TÍTULO DA APRESENTAÇÃO • MUDAR ANTES DE COMEÇAR</a:t>
            </a:r>
            <a:endParaRPr sz="1000">
              <a:solidFill>
                <a:srgbClr val="FCFB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1"/>
          <p:cNvPicPr preferRelativeResize="0"/>
          <p:nvPr/>
        </p:nvPicPr>
        <p:blipFill rotWithShape="1">
          <a:blip r:embed="rId3">
            <a:alphaModFix/>
          </a:blip>
          <a:srcRect b="0" l="0" r="52320" t="0"/>
          <a:stretch/>
        </p:blipFill>
        <p:spPr>
          <a:xfrm>
            <a:off x="16649912" y="196950"/>
            <a:ext cx="712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1"/>
          <p:cNvPicPr preferRelativeResize="0"/>
          <p:nvPr/>
        </p:nvPicPr>
        <p:blipFill rotWithShape="1">
          <a:blip r:embed="rId3">
            <a:alphaModFix/>
          </a:blip>
          <a:srcRect b="4280" l="54518" r="-2198" t="-4280"/>
          <a:stretch/>
        </p:blipFill>
        <p:spPr>
          <a:xfrm>
            <a:off x="17389768" y="191523"/>
            <a:ext cx="7122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 1 1">
  <p:cSld name="TITLE_1_1_1">
    <p:bg>
      <p:bgPr>
        <a:solidFill>
          <a:srgbClr val="40374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2"/>
          <p:cNvPicPr preferRelativeResize="0"/>
          <p:nvPr/>
        </p:nvPicPr>
        <p:blipFill rotWithShape="1">
          <a:blip r:embed="rId2">
            <a:alphaModFix amt="14000"/>
          </a:blip>
          <a:srcRect b="27751" l="23950" r="1323" t="1110"/>
          <a:stretch/>
        </p:blipFill>
        <p:spPr>
          <a:xfrm>
            <a:off x="0" y="0"/>
            <a:ext cx="1722222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9506" y="4244624"/>
            <a:ext cx="2355500" cy="147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32"/>
          <p:cNvGrpSpPr/>
          <p:nvPr/>
        </p:nvGrpSpPr>
        <p:grpSpPr>
          <a:xfrm>
            <a:off x="15157084" y="3682980"/>
            <a:ext cx="2355526" cy="420869"/>
            <a:chOff x="8324956" y="95761"/>
            <a:chExt cx="726028" cy="129714"/>
          </a:xfrm>
        </p:grpSpPr>
        <p:pic>
          <p:nvPicPr>
            <p:cNvPr id="141" name="Google Shape;141;p32"/>
            <p:cNvPicPr preferRelativeResize="0"/>
            <p:nvPr/>
          </p:nvPicPr>
          <p:blipFill rotWithShape="1">
            <a:blip r:embed="rId4">
              <a:alphaModFix/>
            </a:blip>
            <a:srcRect b="0" l="0" r="52320" t="0"/>
            <a:stretch/>
          </p:blipFill>
          <p:spPr>
            <a:xfrm>
              <a:off x="8324956" y="98475"/>
              <a:ext cx="35610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32"/>
            <p:cNvPicPr preferRelativeResize="0"/>
            <p:nvPr/>
          </p:nvPicPr>
          <p:blipFill rotWithShape="1">
            <a:blip r:embed="rId4">
              <a:alphaModFix/>
            </a:blip>
            <a:srcRect b="4280" l="54518" r="-2198" t="-4280"/>
            <a:stretch/>
          </p:blipFill>
          <p:spPr>
            <a:xfrm>
              <a:off x="8694884" y="95761"/>
              <a:ext cx="356100" cy="12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32"/>
          <p:cNvSpPr txBox="1"/>
          <p:nvPr/>
        </p:nvSpPr>
        <p:spPr>
          <a:xfrm>
            <a:off x="10511747" y="9451450"/>
            <a:ext cx="69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pt-BR" u="sng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ablab.com.br</a:t>
            </a:r>
            <a:r>
              <a:rPr lang="pt-BR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 xml:space="preserve"> • +55 11 3060.5890</a:t>
            </a:r>
            <a:endParaRPr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i="0" lang="pt-BR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 xml:space="preserve">rua </a:t>
            </a:r>
            <a:r>
              <a:rPr lang="pt-BR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cardeal arcoverde, 359 - 11º andar - pinheiros</a:t>
            </a:r>
            <a:r>
              <a:rPr i="0" lang="pt-BR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, sp</a:t>
            </a:r>
            <a:endParaRPr i="0" sz="10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14937774" y="5834513"/>
            <a:ext cx="269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CFBF3"/>
                </a:solidFill>
                <a:uFill>
                  <a:noFill/>
                </a:uFill>
                <a:latin typeface="Roboto Black"/>
                <a:ea typeface="Roboto Black"/>
                <a:cs typeface="Roboto Black"/>
                <a:sym typeface="Roboto Blac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@agenciaablab</a:t>
            </a:r>
            <a:endParaRPr sz="4000">
              <a:solidFill>
                <a:srgbClr val="FCFBF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5" name="Google Shape;145;p32"/>
          <p:cNvSpPr txBox="1"/>
          <p:nvPr/>
        </p:nvSpPr>
        <p:spPr>
          <a:xfrm>
            <a:off x="880200" y="3875250"/>
            <a:ext cx="88467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2662"/>
              </a:buClr>
              <a:buSzPts val="21200"/>
              <a:buFont typeface="Arial"/>
              <a:buNone/>
            </a:pPr>
            <a:r>
              <a:rPr i="0" lang="pt-BR" sz="15000" u="none" cap="none" strike="noStrike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rPr>
              <a:t>obrigad</a:t>
            </a:r>
            <a:endParaRPr i="0" sz="15000" u="none" cap="none" strike="noStrike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2100" y="5722725"/>
            <a:ext cx="1956900" cy="1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theme" Target="../theme/theme4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97" y="-39"/>
            <a:ext cx="18288005" cy="10287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33"/>
          <p:cNvGrpSpPr/>
          <p:nvPr/>
        </p:nvGrpSpPr>
        <p:grpSpPr>
          <a:xfrm>
            <a:off x="8452822" y="5699067"/>
            <a:ext cx="7673746" cy="1413493"/>
            <a:chOff x="5037550" y="3023250"/>
            <a:chExt cx="3315653" cy="610738"/>
          </a:xfrm>
        </p:grpSpPr>
        <p:pic>
          <p:nvPicPr>
            <p:cNvPr id="153" name="Google Shape;153;p33"/>
            <p:cNvPicPr preferRelativeResize="0"/>
            <p:nvPr/>
          </p:nvPicPr>
          <p:blipFill rotWithShape="1">
            <a:blip r:embed="rId4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33"/>
            <p:cNvPicPr preferRelativeResize="0"/>
            <p:nvPr/>
          </p:nvPicPr>
          <p:blipFill rotWithShape="1">
            <a:blip r:embed="rId4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33"/>
          <p:cNvSpPr txBox="1"/>
          <p:nvPr/>
        </p:nvSpPr>
        <p:spPr>
          <a:xfrm>
            <a:off x="8452826" y="7648400"/>
            <a:ext cx="88599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 xml:space="preserve">Pro Matre </a:t>
            </a:r>
            <a:br>
              <a:rPr lang="pt-BR" sz="30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30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>Período</a:t>
            </a:r>
            <a:r>
              <a:rPr lang="pt-BR" sz="30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 xml:space="preserve"> : 01 a 24 de maio de 2026</a:t>
            </a:r>
            <a:endParaRPr sz="3000">
              <a:solidFill>
                <a:srgbClr val="B86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/>
          <p:nvPr/>
        </p:nvSpPr>
        <p:spPr>
          <a:xfrm>
            <a:off x="4227600" y="5378800"/>
            <a:ext cx="2950800" cy="2048400"/>
          </a:xfrm>
          <a:prstGeom prst="rect">
            <a:avLst/>
          </a:prstGeom>
          <a:solidFill>
            <a:srgbClr val="FCFBF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57" name="Google Shape;15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5407" y="5363396"/>
            <a:ext cx="3313401" cy="20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0374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CFB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4"/>
          <p:cNvPicPr preferRelativeResize="0"/>
          <p:nvPr/>
        </p:nvPicPr>
        <p:blipFill rotWithShape="1">
          <a:blip r:embed="rId4">
            <a:alphaModFix/>
          </a:blip>
          <a:srcRect b="0" l="0" r="52320" t="0"/>
          <a:stretch/>
        </p:blipFill>
        <p:spPr>
          <a:xfrm>
            <a:off x="16649912" y="196950"/>
            <a:ext cx="7122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4"/>
          <p:cNvPicPr preferRelativeResize="0"/>
          <p:nvPr/>
        </p:nvPicPr>
        <p:blipFill rotWithShape="1">
          <a:blip r:embed="rId4">
            <a:alphaModFix/>
          </a:blip>
          <a:srcRect b="4280" l="54518" r="-2198" t="-4280"/>
          <a:stretch/>
        </p:blipFill>
        <p:spPr>
          <a:xfrm>
            <a:off x="17389768" y="191523"/>
            <a:ext cx="7122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4"/>
          <p:cNvSpPr txBox="1"/>
          <p:nvPr/>
        </p:nvSpPr>
        <p:spPr>
          <a:xfrm>
            <a:off x="4412150" y="4183050"/>
            <a:ext cx="124092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1" lang="pt-BR" sz="1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b="1" sz="1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260762" y="2266899"/>
            <a:ext cx="2570377" cy="57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/>
        </p:nvSpPr>
        <p:spPr>
          <a:xfrm rot="-5400000">
            <a:off x="-4656900" y="4644900"/>
            <a:ext cx="10299000" cy="985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 xml:space="preserve">Big Numbers • </a:t>
            </a:r>
            <a:r>
              <a:rPr b="0" i="0" lang="pt-BR" sz="2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Total de</a:t>
            </a:r>
            <a:r>
              <a:rPr lang="pt-B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 xml:space="preserve"> Maio</a:t>
            </a:r>
            <a:endParaRPr b="0"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3" name="Google Shape;173;p35"/>
          <p:cNvSpPr txBox="1"/>
          <p:nvPr/>
        </p:nvSpPr>
        <p:spPr>
          <a:xfrm>
            <a:off x="1877750" y="6159625"/>
            <a:ext cx="15589800" cy="4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Em maio, a estratégia de campanhas orientadas para conversão seguiu em amadurecimento e ganho de eficiência. O período de 01 a 24 de maio acumula resultados consistentes via Google Ads, com alta eficiência na campanha Institucional e crescimento expressivo nos botões de agendamento frente a abril.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 Google Ads manteve performance sólida com CPA de R$ 4,84 e taxa de conversão de 14,5%, enquanto o Meta Ads gerou mais de 1,19 milhão de impressões com CPC de R$ 0,23. Em conjunto, as plataformas totalizaram R$ 13.289,09 em investimento, entregando alcance qualificado e conversões consistentes ao longo do período.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5"/>
          <p:cNvSpPr txBox="1"/>
          <p:nvPr/>
        </p:nvSpPr>
        <p:spPr>
          <a:xfrm>
            <a:off x="1600350" y="642925"/>
            <a:ext cx="15087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3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>Big Numbers</a:t>
            </a:r>
            <a:endParaRPr sz="6300">
              <a:solidFill>
                <a:srgbClr val="3F3F3F"/>
              </a:solidFill>
            </a:endParaRPr>
          </a:p>
        </p:txBody>
      </p:sp>
      <p:graphicFrame>
        <p:nvGraphicFramePr>
          <p:cNvPr id="175" name="Google Shape;175;p35"/>
          <p:cNvGraphicFramePr/>
          <p:nvPr/>
        </p:nvGraphicFramePr>
        <p:xfrm>
          <a:off x="1877763" y="239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{626BDCDD-6AC9-426E-AE4F-3334DCACC9B4}</a:tableStyleId>
              </a:tblPr>
              <a:tblGrid>
                <a:gridCol w="1764375"/>
                <a:gridCol w="2027700"/>
                <a:gridCol w="2159400"/>
                <a:gridCol w="1132375"/>
                <a:gridCol w="1422050"/>
                <a:gridCol w="1237700"/>
                <a:gridCol w="1501050"/>
                <a:gridCol w="2896775"/>
                <a:gridCol w="1448350"/>
              </a:tblGrid>
              <a:tr h="1118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Plataforma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Investimento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Visualizações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CTR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CPC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Cliques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Tx. Conv.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Cliques nos botões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CPA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3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R$ 9.699,59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31.039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44,6%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R$ 0,70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13.843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14,5%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2.003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R$ 4,84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8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R$ 3.589,50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1.199.116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1,31%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R$ 0,23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15.662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R$ 13.289,09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1.230.155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2,4%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R$ 0,45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29.505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14,5%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2.003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R$ 4,84</a:t>
                      </a:r>
                      <a:endParaRPr b="1"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/>
        </p:nvSpPr>
        <p:spPr>
          <a:xfrm>
            <a:off x="843500" y="844475"/>
            <a:ext cx="13983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3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>Dados de Performance</a:t>
            </a:r>
            <a:endParaRPr sz="6300">
              <a:solidFill>
                <a:srgbClr val="3F3F3F"/>
              </a:solidFill>
            </a:endParaRPr>
          </a:p>
        </p:txBody>
      </p:sp>
      <p:sp>
        <p:nvSpPr>
          <p:cNvPr id="181" name="Google Shape;181;p36"/>
          <p:cNvSpPr txBox="1"/>
          <p:nvPr/>
        </p:nvSpPr>
        <p:spPr>
          <a:xfrm>
            <a:off x="16055839" y="9814094"/>
            <a:ext cx="123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80%</a:t>
            </a:r>
            <a:endParaRPr/>
          </a:p>
        </p:txBody>
      </p:sp>
      <p:sp>
        <p:nvSpPr>
          <p:cNvPr id="182" name="Google Shape;182;p36"/>
          <p:cNvSpPr txBox="1"/>
          <p:nvPr/>
        </p:nvSpPr>
        <p:spPr>
          <a:xfrm>
            <a:off x="1115425" y="7002246"/>
            <a:ext cx="165711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❖"/>
            </a:pPr>
            <a:r>
              <a:rPr lang="pt-BR" sz="2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 xml:space="preserve"> Em maio, o ritmo de conversões segue a curva de crescimento esperada. Com 2.003 conversões nas primeiras 24 dias do mês — 80% da meta de 2.500 —, a trajetória indica que o objetivo mensal está ao alcance, mantendo a consistência do planejamento estratégico iniciado em março.</a:t>
            </a:r>
            <a:endParaRPr sz="2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3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974" y="1998875"/>
            <a:ext cx="8802051" cy="54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/>
          <p:nvPr/>
        </p:nvSpPr>
        <p:spPr>
          <a:xfrm>
            <a:off x="7269875" y="224800"/>
            <a:ext cx="4011600" cy="2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7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1096650" y="6296150"/>
            <a:ext cx="160947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Em maio, o Tuotempo registrou crescimento expressivo frente a abril (+105%), consolidando-se como o principal canal de agendamento online. O WhatsApp também apresentou crescimento relevante (+110%), mantendo-se como canal de alto volume de interação.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 Telefone registrou crescimento de +293% frente a abril, reflexo da maior visibilidade dos botões de contato na landing page. No total, os botões de agendamento somaram 5.004 interações em maio — resultado expressivo para o período parcial do mês.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7"/>
          <p:cNvSpPr txBox="1"/>
          <p:nvPr/>
        </p:nvSpPr>
        <p:spPr>
          <a:xfrm>
            <a:off x="674300" y="407716"/>
            <a:ext cx="14403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Cliques nos botões de agendamento</a:t>
            </a:r>
            <a:endParaRPr sz="100"/>
          </a:p>
        </p:txBody>
      </p:sp>
      <p:graphicFrame>
        <p:nvGraphicFramePr>
          <p:cNvPr id="192" name="Google Shape;192;p37"/>
          <p:cNvGraphicFramePr/>
          <p:nvPr/>
        </p:nvGraphicFramePr>
        <p:xfrm>
          <a:off x="2235125" y="175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{168506B4-DBC4-4560-8028-80199286882C}</a:tableStyleId>
              </a:tblPr>
              <a:tblGrid>
                <a:gridCol w="3454400"/>
                <a:gridCol w="3454400"/>
                <a:gridCol w="3454400"/>
                <a:gridCol w="3454400"/>
              </a:tblGrid>
              <a:tr h="78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pt-BR" sz="24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pt-BR" sz="24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Tuotempo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pt-BR" sz="24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Telefone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</a:tr>
              <a:tr h="72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Março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1.143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523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146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Abril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1.078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1.025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163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0" sz="24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Maio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2.259</a:t>
                      </a:r>
                      <a:endParaRPr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2.104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641</a:t>
                      </a:r>
                      <a:endParaRPr b="1" sz="2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/>
          <p:nvPr/>
        </p:nvSpPr>
        <p:spPr>
          <a:xfrm>
            <a:off x="7269875" y="224800"/>
            <a:ext cx="4011600" cy="2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8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1096650" y="6634525"/>
            <a:ext cx="16834800" cy="3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Em maio, a campanha Institucional manteve sua liderança com 1.260 conversões via Google Ads e alto volume de cliques nos botões de agendamento, com destaque para o Tuotempo. O CPA de R$ 1,88 reforça a excelente eficiência desta campanha no portfólio.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As campanhas de Exames e Pré-Natal seguiram com participação complementar, somando 518 e 170 conversões respectivamente. Ambas contribuem para diversificar os pontos de entrada e fortalecer a presença da marca em frentes específicas de serviço.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8"/>
          <p:cNvSpPr txBox="1"/>
          <p:nvPr/>
        </p:nvSpPr>
        <p:spPr>
          <a:xfrm>
            <a:off x="674300" y="909530"/>
            <a:ext cx="17705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Cliques nos botões de agendamento por campanha</a:t>
            </a:r>
            <a:endParaRPr sz="400"/>
          </a:p>
        </p:txBody>
      </p:sp>
      <p:graphicFrame>
        <p:nvGraphicFramePr>
          <p:cNvPr id="201" name="Google Shape;201;p38"/>
          <p:cNvGraphicFramePr/>
          <p:nvPr/>
        </p:nvGraphicFramePr>
        <p:xfrm>
          <a:off x="2629450" y="25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{626BDCDD-6AC9-426E-AE4F-3334DCACC9B4}</a:tableStyleId>
              </a:tblPr>
              <a:tblGrid>
                <a:gridCol w="4102950"/>
                <a:gridCol w="3906275"/>
                <a:gridCol w="2619125"/>
                <a:gridCol w="3140850"/>
              </a:tblGrid>
              <a:tr h="99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Tuotempo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telefone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</a:tr>
              <a:tr h="98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Institucional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400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768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127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Exames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261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73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Pré Natal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6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354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54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25" y="1562125"/>
            <a:ext cx="17173949" cy="4432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/>
          <p:nvPr/>
        </p:nvSpPr>
        <p:spPr>
          <a:xfrm>
            <a:off x="7269875" y="224800"/>
            <a:ext cx="4011600" cy="2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39"/>
          <p:cNvCxnSpPr/>
          <p:nvPr/>
        </p:nvCxnSpPr>
        <p:spPr>
          <a:xfrm flipH="1">
            <a:off x="4098075" y="6294725"/>
            <a:ext cx="13800" cy="37656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10" name="Google Shape;210;p39"/>
          <p:cNvSpPr txBox="1"/>
          <p:nvPr/>
        </p:nvSpPr>
        <p:spPr>
          <a:xfrm>
            <a:off x="922799" y="7717035"/>
            <a:ext cx="3324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73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4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9"/>
          <p:cNvSpPr txBox="1"/>
          <p:nvPr/>
        </p:nvSpPr>
        <p:spPr>
          <a:xfrm>
            <a:off x="653150" y="6425525"/>
            <a:ext cx="33240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4853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Font typeface="Roboto"/>
              <a:buChar char="❖"/>
            </a:pPr>
            <a:r>
              <a:rPr b="1" lang="pt-BR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 xml:space="preserve"> A primeira semana de maio foi marcada pelo feriado do Dia do Trabalho (1/5), que impactou o volume de demanda no início do período. As campanhas mantiveram entrega estável nos dias de veiculação, com retomada gradual das interações a partir do dia 2.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9"/>
          <p:cNvSpPr txBox="1"/>
          <p:nvPr/>
        </p:nvSpPr>
        <p:spPr>
          <a:xfrm>
            <a:off x="674300" y="407716"/>
            <a:ext cx="14403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 xml:space="preserve">Performance das campanhas de </a:t>
            </a:r>
            <a:r>
              <a:rPr b="1" lang="pt-BR" sz="6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mídia</a:t>
            </a:r>
            <a:endParaRPr sz="100"/>
          </a:p>
        </p:txBody>
      </p:sp>
      <p:sp>
        <p:nvSpPr>
          <p:cNvPr id="213" name="Google Shape;213;p39"/>
          <p:cNvSpPr txBox="1"/>
          <p:nvPr/>
        </p:nvSpPr>
        <p:spPr>
          <a:xfrm>
            <a:off x="1441363" y="5812925"/>
            <a:ext cx="24747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6758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❖"/>
            </a:pP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semana 1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9"/>
          <p:cNvSpPr txBox="1"/>
          <p:nvPr/>
        </p:nvSpPr>
        <p:spPr>
          <a:xfrm>
            <a:off x="4938438" y="5812913"/>
            <a:ext cx="24747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6758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❖"/>
            </a:pP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semana 2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8435513" y="5812925"/>
            <a:ext cx="24747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6758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❖"/>
            </a:pP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semana 3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12135463" y="5812925"/>
            <a:ext cx="24747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6758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❖"/>
            </a:pP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 xml:space="preserve">semana </a:t>
            </a: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 xml:space="preserve">4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9"/>
          <p:cNvSpPr txBox="1"/>
          <p:nvPr/>
        </p:nvSpPr>
        <p:spPr>
          <a:xfrm>
            <a:off x="4125700" y="6425525"/>
            <a:ext cx="34587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4853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Font typeface="Roboto"/>
              <a:buChar char="❖"/>
            </a:pPr>
            <a:r>
              <a:rPr b="1" lang="pt-BR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Na segunda semana de maio, observamos aceleração expressiva nas conversões, impulsionada pela maturação do algoritmo e pelas otimizações de lances e segmentação realizadas no início do mês. O volume de cliques nos botões de agendamento superou consistentemente 100 interações por dia.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7876175" y="6425525"/>
            <a:ext cx="34587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4853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Font typeface="Roboto"/>
              <a:buChar char="❖"/>
            </a:pPr>
            <a:r>
              <a:rPr b="1" lang="pt-BR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 xml:space="preserve"> A terceira semana de maio foi o melhor período do mês, com pico de conversões e maior eficiência das campanhas. A campanha Institucional registrou seu melhor CPA do período, e os botões de agendamento atingiram os maiores volumes semanais de interação.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9"/>
          <p:cNvSpPr txBox="1"/>
          <p:nvPr/>
        </p:nvSpPr>
        <p:spPr>
          <a:xfrm>
            <a:off x="11565050" y="6449525"/>
            <a:ext cx="34587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4853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Font typeface="Roboto"/>
              <a:buChar char="❖"/>
            </a:pPr>
            <a:r>
              <a:rPr b="1" lang="pt-BR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Na quarta semana, as campanhas mantiveram estabilidade, com volume de conversões consistente. O algoritmo de otimização demonstrou maturidade na entrega, priorizando usuários com maior propensão ao agendamento e sustentando a eficiência do CPA.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0" name="Google Shape;220;p39"/>
          <p:cNvCxnSpPr/>
          <p:nvPr/>
        </p:nvCxnSpPr>
        <p:spPr>
          <a:xfrm flipH="1">
            <a:off x="7833988" y="6294725"/>
            <a:ext cx="13800" cy="37656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9"/>
          <p:cNvCxnSpPr/>
          <p:nvPr/>
        </p:nvCxnSpPr>
        <p:spPr>
          <a:xfrm flipH="1">
            <a:off x="11497950" y="6294725"/>
            <a:ext cx="13800" cy="37656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9"/>
          <p:cNvCxnSpPr/>
          <p:nvPr/>
        </p:nvCxnSpPr>
        <p:spPr>
          <a:xfrm flipH="1">
            <a:off x="15161900" y="6449525"/>
            <a:ext cx="13800" cy="37656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23" name="Google Shape;223;p39"/>
          <p:cNvSpPr txBox="1"/>
          <p:nvPr/>
        </p:nvSpPr>
        <p:spPr>
          <a:xfrm>
            <a:off x="15233900" y="5812925"/>
            <a:ext cx="24747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6758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❖"/>
            </a:pPr>
            <a:r>
              <a:rPr b="1" lang="pt-BR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semana 5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15161900" y="6449525"/>
            <a:ext cx="31260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00" lIns="101300" spcFirstLastPara="1" rIns="101300" wrap="square" tIns="101300">
            <a:spAutoFit/>
          </a:bodyPr>
          <a:lstStyle/>
          <a:p>
            <a:pPr indent="-348535" lvl="0" marL="50657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Font typeface="Roboto"/>
              <a:buChar char="❖"/>
            </a:pPr>
            <a:r>
              <a:rPr b="1" lang="pt-BR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 quinta semana encerrou o período analisado (até 24/05). Com a proximidade do feriado de Corpus Christi no final do mês, monitoramos o comportamento da demanda para ajustar a estratégia e garantir a sustentação das conversões no fechamento de maio.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/>
          <p:nvPr/>
        </p:nvSpPr>
        <p:spPr>
          <a:xfrm>
            <a:off x="7269875" y="224800"/>
            <a:ext cx="4011600" cy="2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4595018" y="83017"/>
            <a:ext cx="90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PRO MATRE</a:t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9201822" y="1656700"/>
            <a:ext cx="772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Funil de Conversão</a:t>
            </a:r>
            <a:endParaRPr sz="100"/>
          </a:p>
        </p:txBody>
      </p:sp>
      <p:sp>
        <p:nvSpPr>
          <p:cNvPr id="232" name="Google Shape;232;p40"/>
          <p:cNvSpPr txBox="1"/>
          <p:nvPr/>
        </p:nvSpPr>
        <p:spPr>
          <a:xfrm>
            <a:off x="9593850" y="2926975"/>
            <a:ext cx="7872300" cy="6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 funil de conversão em maio demonstra excelente qualidade de tráfego: das 1.230.155 impressões totais, geramos 29.505 cliques (CTR de 2,4%), dos quais 5.004 resultaram em cliques nos botões de agendamento — representando 17% dos cliques totais, acima da média do mercado de saúde.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 2.003 conversões nas primeiras 24 dias — 80% da meta de 2.500 —, a projeção para o mês completo aponta para atingimento integral da meta, reforçando a eficiência crescente da estratégia orientada para conversão implementada desde março.</a:t>
            </a:r>
            <a:endParaRPr sz="2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40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350700" y="3133936"/>
            <a:ext cx="9097801" cy="5236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41"/>
          <p:cNvGrpSpPr/>
          <p:nvPr/>
        </p:nvGrpSpPr>
        <p:grpSpPr>
          <a:xfrm>
            <a:off x="16648614" y="191841"/>
            <a:ext cx="1437004" cy="264572"/>
            <a:chOff x="5037550" y="3023250"/>
            <a:chExt cx="3315652" cy="610738"/>
          </a:xfrm>
        </p:grpSpPr>
        <p:pic>
          <p:nvPicPr>
            <p:cNvPr id="239" name="Google Shape;239;p41"/>
            <p:cNvPicPr preferRelativeResize="0"/>
            <p:nvPr/>
          </p:nvPicPr>
          <p:blipFill rotWithShape="1">
            <a:blip r:embed="rId3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1"/>
            <p:cNvPicPr preferRelativeResize="0"/>
            <p:nvPr/>
          </p:nvPicPr>
          <p:blipFill rotWithShape="1">
            <a:blip r:embed="rId3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1" name="Google Shape;2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 txBox="1"/>
          <p:nvPr/>
        </p:nvSpPr>
        <p:spPr>
          <a:xfrm>
            <a:off x="375702" y="568950"/>
            <a:ext cx="1491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Termos mais buscados em Maio</a:t>
            </a:r>
            <a:endParaRPr b="0" i="0" sz="7700" u="none" cap="none" strike="noStrike">
              <a:solidFill>
                <a:srgbClr val="B864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99820">
            <a:off x="106176" y="1744039"/>
            <a:ext cx="6731972" cy="51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258122" y="1322997"/>
            <a:ext cx="178398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-"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-"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 xml:space="preserve"> </a:t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3227425" y="3161374"/>
            <a:ext cx="3346200" cy="6678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3871149" y="3346725"/>
            <a:ext cx="2248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2200">
                <a:solidFill>
                  <a:srgbClr val="403748"/>
                </a:solidFill>
                <a:latin typeface="Oswald"/>
                <a:ea typeface="Oswald"/>
                <a:cs typeface="Oswald"/>
                <a:sym typeface="Oswald"/>
              </a:rPr>
              <a:t>Buscas Institucionais</a:t>
            </a:r>
            <a:endParaRPr b="1" i="0" sz="2200" u="none" cap="none" strike="noStrike">
              <a:solidFill>
                <a:srgbClr val="40374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7" name="Google Shape;247;p41"/>
          <p:cNvSpPr txBox="1"/>
          <p:nvPr/>
        </p:nvSpPr>
        <p:spPr>
          <a:xfrm>
            <a:off x="3871150" y="4464122"/>
            <a:ext cx="2524200" cy="5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Os termos relacionados à marca seguiram liderando o volume de buscas em maio, com destaque para “Pro Matre” e suas variações. O alto reconhecimento da marca e a forte intenção de busca direta sustentam o volume de conversões na campanha Institucional.</a:t>
            </a:r>
            <a:endParaRPr b="0" i="0" sz="20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" name="Google Shape;248;p41"/>
          <p:cNvCxnSpPr/>
          <p:nvPr/>
        </p:nvCxnSpPr>
        <p:spPr>
          <a:xfrm>
            <a:off x="4008847" y="4395385"/>
            <a:ext cx="2248800" cy="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41"/>
          <p:cNvSpPr/>
          <p:nvPr/>
        </p:nvSpPr>
        <p:spPr>
          <a:xfrm>
            <a:off x="7710375" y="3169824"/>
            <a:ext cx="3346200" cy="6678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8354097" y="3353785"/>
            <a:ext cx="2524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2200">
                <a:solidFill>
                  <a:srgbClr val="403748"/>
                </a:solidFill>
                <a:latin typeface="Oswald"/>
                <a:ea typeface="Oswald"/>
                <a:cs typeface="Oswald"/>
                <a:sym typeface="Oswald"/>
              </a:rPr>
              <a:t>Intenção de Agendamento</a:t>
            </a:r>
            <a:endParaRPr b="1" i="0" sz="2200" u="none" cap="none" strike="noStrike">
              <a:solidFill>
                <a:srgbClr val="40374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1" name="Google Shape;251;p41"/>
          <p:cNvSpPr txBox="1"/>
          <p:nvPr/>
        </p:nvSpPr>
        <p:spPr>
          <a:xfrm>
            <a:off x="8443250" y="4464124"/>
            <a:ext cx="25242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 termo “Pro Matre agendamento” seguiu com alta taxa de clique em maio, evidenciando um público em estágio avançado de decisão. A campanha Institucional captura essa intenção com eficiência, refletindo no CPA de R$ 1,88.</a:t>
            </a:r>
            <a:endParaRPr b="0" i="0" sz="20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2" name="Google Shape;252;p41"/>
          <p:cNvCxnSpPr/>
          <p:nvPr/>
        </p:nvCxnSpPr>
        <p:spPr>
          <a:xfrm>
            <a:off x="8491797" y="4402435"/>
            <a:ext cx="2248800" cy="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41"/>
          <p:cNvSpPr/>
          <p:nvPr/>
        </p:nvSpPr>
        <p:spPr>
          <a:xfrm>
            <a:off x="12193325" y="3152899"/>
            <a:ext cx="3346200" cy="6678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12837047" y="3465099"/>
            <a:ext cx="2524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2200">
                <a:solidFill>
                  <a:srgbClr val="403748"/>
                </a:solidFill>
                <a:latin typeface="Oswald"/>
                <a:ea typeface="Oswald"/>
                <a:cs typeface="Oswald"/>
                <a:sym typeface="Oswald"/>
              </a:rPr>
              <a:t>Busca por Especialidades</a:t>
            </a:r>
            <a:endParaRPr b="1" i="0" sz="2200" u="none" cap="none" strike="noStrike">
              <a:solidFill>
                <a:srgbClr val="40374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55" name="Google Shape;255;p41"/>
          <p:cNvCxnSpPr/>
          <p:nvPr/>
        </p:nvCxnSpPr>
        <p:spPr>
          <a:xfrm>
            <a:off x="12974747" y="4388297"/>
            <a:ext cx="2248800" cy="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41"/>
          <p:cNvSpPr txBox="1"/>
          <p:nvPr/>
        </p:nvSpPr>
        <p:spPr>
          <a:xfrm>
            <a:off x="15061875" y="3353797"/>
            <a:ext cx="25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0374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41"/>
          <p:cNvSpPr txBox="1"/>
          <p:nvPr/>
        </p:nvSpPr>
        <p:spPr>
          <a:xfrm>
            <a:off x="2579422" y="4327035"/>
            <a:ext cx="13677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pt-BR" sz="9600" u="none" cap="none" strike="noStrike">
                <a:solidFill>
                  <a:srgbClr val="B864FF"/>
                </a:solidFill>
                <a:latin typeface="Roboto Black"/>
                <a:ea typeface="Roboto Black"/>
                <a:cs typeface="Roboto Black"/>
                <a:sym typeface="Roboto Black"/>
              </a:rPr>
              <a:t>1.</a:t>
            </a:r>
            <a:endParaRPr b="0" i="0" sz="9600" u="none" cap="none" strike="noStrike">
              <a:solidFill>
                <a:srgbClr val="B86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7103247" y="4357097"/>
            <a:ext cx="13677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pt-BR" sz="9600" u="none" cap="none" strike="noStrike">
                <a:solidFill>
                  <a:srgbClr val="B864FF"/>
                </a:solidFill>
                <a:latin typeface="Roboto Black"/>
                <a:ea typeface="Roboto Black"/>
                <a:cs typeface="Roboto Black"/>
                <a:sym typeface="Roboto Black"/>
              </a:rPr>
              <a:t>2.</a:t>
            </a:r>
            <a:endParaRPr b="0" i="0" sz="9600" u="none" cap="none" strike="noStrike">
              <a:solidFill>
                <a:srgbClr val="B86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11621747" y="4357085"/>
            <a:ext cx="13677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pt-BR" sz="9600" u="none" cap="none" strike="noStrike">
                <a:solidFill>
                  <a:srgbClr val="B864FF"/>
                </a:solidFill>
                <a:latin typeface="Roboto Black"/>
                <a:ea typeface="Roboto Black"/>
                <a:cs typeface="Roboto Black"/>
                <a:sym typeface="Roboto Black"/>
              </a:rPr>
              <a:t>3.</a:t>
            </a:r>
            <a:endParaRPr b="0" i="0" sz="9600" u="none" cap="none" strike="noStrike">
              <a:solidFill>
                <a:srgbClr val="B86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12837075" y="4557796"/>
            <a:ext cx="2524200" cy="5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Termos como “ecocardiograma fetal”, “plano maternidade” e “pré-natal particular” reforçam oportunidades para ampliar a cobertura nas campanhas de Exames e Pré-Natal, com potencial de crescimento em conversões nessas frentes.</a:t>
            </a:r>
            <a:endParaRPr b="0" i="0" sz="20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42"/>
          <p:cNvGrpSpPr/>
          <p:nvPr/>
        </p:nvGrpSpPr>
        <p:grpSpPr>
          <a:xfrm>
            <a:off x="16648614" y="191841"/>
            <a:ext cx="1437004" cy="264572"/>
            <a:chOff x="5037550" y="3023250"/>
            <a:chExt cx="3315652" cy="610738"/>
          </a:xfrm>
        </p:grpSpPr>
        <p:pic>
          <p:nvPicPr>
            <p:cNvPr id="266" name="Google Shape;266;p42"/>
            <p:cNvPicPr preferRelativeResize="0"/>
            <p:nvPr/>
          </p:nvPicPr>
          <p:blipFill rotWithShape="1">
            <a:blip r:embed="rId3">
              <a:alphaModFix/>
            </a:blip>
            <a:srcRect b="0" l="0" r="54179" t="0"/>
            <a:stretch/>
          </p:blipFill>
          <p:spPr>
            <a:xfrm>
              <a:off x="5037550" y="3023250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42"/>
            <p:cNvPicPr preferRelativeResize="0"/>
            <p:nvPr/>
          </p:nvPicPr>
          <p:blipFill rotWithShape="1">
            <a:blip r:embed="rId3">
              <a:alphaModFix/>
            </a:blip>
            <a:srcRect b="0" l="54179" r="0" t="0"/>
            <a:stretch/>
          </p:blipFill>
          <p:spPr>
            <a:xfrm>
              <a:off x="6733475" y="3031613"/>
              <a:ext cx="1619727" cy="6023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98" y="181661"/>
            <a:ext cx="509795" cy="3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2"/>
          <p:cNvSpPr txBox="1"/>
          <p:nvPr/>
        </p:nvSpPr>
        <p:spPr>
          <a:xfrm>
            <a:off x="375702" y="568950"/>
            <a:ext cx="1491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Projeção de Resultados para Junho</a:t>
            </a:r>
            <a:endParaRPr b="0" i="0" sz="7700" u="none" cap="none" strike="noStrike">
              <a:solidFill>
                <a:srgbClr val="B864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70" name="Google Shape;27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99820">
            <a:off x="106176" y="1744039"/>
            <a:ext cx="6731972" cy="51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2"/>
          <p:cNvSpPr txBox="1"/>
          <p:nvPr/>
        </p:nvSpPr>
        <p:spPr>
          <a:xfrm>
            <a:off x="15061875" y="3353797"/>
            <a:ext cx="25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0374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375700" y="8350846"/>
            <a:ext cx="16976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Char char="❖"/>
            </a:pPr>
            <a:r>
              <a:rPr lang="pt-BR" sz="2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projeção para junho acompanha a curva de amadurecimento das campanhas. Com base no ritmo atual — 2.003 conversões em 24 dias —, o mês completo de maio deve atingir 100% da meta. Para junho, mantemos expectativa de crescimento sustentável, com foco em otimização contínua e potencial expansão do budget na campanha Institucional.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42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5115" y="2482876"/>
            <a:ext cx="11497766" cy="515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/>
          <p:nvPr/>
        </p:nvSpPr>
        <p:spPr>
          <a:xfrm>
            <a:off x="364003" y="5827575"/>
            <a:ext cx="17567400" cy="420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3"/>
          <p:cNvSpPr/>
          <p:nvPr/>
        </p:nvSpPr>
        <p:spPr>
          <a:xfrm>
            <a:off x="368391" y="955075"/>
            <a:ext cx="17567400" cy="4205100"/>
          </a:xfrm>
          <a:prstGeom prst="rect">
            <a:avLst/>
          </a:prstGeom>
          <a:solidFill>
            <a:srgbClr val="B8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 txBox="1"/>
          <p:nvPr/>
        </p:nvSpPr>
        <p:spPr>
          <a:xfrm>
            <a:off x="2297600" y="2595924"/>
            <a:ext cx="488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Conclusão</a:t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10996875" y="2204050"/>
            <a:ext cx="55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7053550" y="1124375"/>
            <a:ext cx="10878000" cy="8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Maio (01–24) foi um período de forte performance, com 2.003 conversões via Google Ads e investimento total de R$ 13.289,09 entre Google e Meta. A estratégia orientada para conversão demonstrou maturidade crescente, com o CPA de R$ 4,84 abaixo da meta e a campanha Institucional registrando o melhor CPA do portfólio (R$ 1,88).</a:t>
            </a:r>
            <a:br>
              <a:rPr lang="pt-B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botões de agendamento totalizaram 5.004 cliques — crescimento expressivo frente a abril —, com Tuotempo (+105%), WhatsApp (+110%) e Telefone (+293%) registrando aumentos em todos os canais, evidenciando a boa qualidade do tráfego entregue pelas campanhas.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Meta Ads cumpriu seu papel estratégico de alcance e awareness, com 1.19M de impressões e CPC de R$ 0,23, complementando o Google Ads na jornada do usuário e contribuindo para o fortalecimento da marca em múltiplos pontos de contato.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Revisão e atualização dos textos e criativos das campanhas para renovação da comunicação e ganho de relevância no leilão.</a:t>
            </a:r>
            <a:br>
              <a:rPr lang="pt-BR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Avaliação de expansão de budget na campanha Institucional, dado o excelente CPA de R$ 1,88 e alto potencial de escala com eficiência.</a:t>
            </a:r>
            <a:br>
              <a:rPr lang="pt-BR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700"/>
              <a:buFont typeface="Roboto"/>
              <a:buChar char="❖"/>
            </a:pPr>
            <a:r>
              <a:rPr lang="pt-BR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Continuidade no monitoramento do CPA das campanhas de Plano Maternidade e Pré-Natal, com ajustes de lance e segmentação para ampliar o volume de conversões nessas frentes.</a:t>
            </a:r>
            <a:endParaRPr sz="17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43"/>
          <p:cNvSpPr txBox="1"/>
          <p:nvPr/>
        </p:nvSpPr>
        <p:spPr>
          <a:xfrm>
            <a:off x="2297599" y="7098975"/>
            <a:ext cx="4887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Próximos Passos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/>
        </p:nvSpPr>
        <p:spPr>
          <a:xfrm>
            <a:off x="8233385" y="8248100"/>
            <a:ext cx="28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403748"/>
                </a:solidFill>
                <a:latin typeface="Roboto"/>
                <a:ea typeface="Roboto"/>
                <a:cs typeface="Roboto"/>
                <a:sym typeface="Roboto"/>
              </a:rPr>
              <a:t>2024</a:t>
            </a:r>
            <a:endParaRPr sz="1600">
              <a:solidFill>
                <a:srgbClr val="40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44"/>
          <p:cNvSpPr txBox="1"/>
          <p:nvPr/>
        </p:nvSpPr>
        <p:spPr>
          <a:xfrm>
            <a:off x="13544949" y="912025"/>
            <a:ext cx="395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pt-BR" sz="4600">
                <a:solidFill>
                  <a:srgbClr val="B864FF"/>
                </a:solidFill>
                <a:latin typeface="Roboto"/>
                <a:ea typeface="Roboto"/>
                <a:cs typeface="Roboto"/>
                <a:sym typeface="Roboto"/>
              </a:rPr>
              <a:t>Vamos falar?</a:t>
            </a:r>
            <a:endParaRPr b="1" sz="4600">
              <a:solidFill>
                <a:srgbClr val="B864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pt-BR" sz="2000">
                <a:solidFill>
                  <a:srgbClr val="FCFBF3"/>
                </a:solidFill>
                <a:latin typeface="Roboto Medium"/>
                <a:ea typeface="Roboto Medium"/>
                <a:cs typeface="Roboto Medium"/>
                <a:sym typeface="Roboto Medium"/>
              </a:rPr>
              <a:t>negocios@ablab.com.br</a:t>
            </a:r>
            <a:endParaRPr sz="2000">
              <a:solidFill>
                <a:srgbClr val="FCFBF3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pt-BR" sz="2000">
                <a:solidFill>
                  <a:srgbClr val="FCFBF3"/>
                </a:solidFill>
                <a:latin typeface="Roboto Medium"/>
                <a:ea typeface="Roboto Medium"/>
                <a:cs typeface="Roboto Medium"/>
                <a:sym typeface="Roboto Medium"/>
              </a:rPr>
              <a:t>+55 11‪ 99834‑9407‬</a:t>
            </a:r>
            <a:endParaRPr sz="2000">
              <a:solidFill>
                <a:srgbClr val="FCFBF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48064">
            <a:off x="17066825" y="676247"/>
            <a:ext cx="880474" cy="1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/b lab #template">
  <a:themeElements>
    <a:clrScheme name="Streamline">
      <a:dk1>
        <a:srgbClr val="FCFBF3"/>
      </a:dk1>
      <a:lt1>
        <a:srgbClr val="B864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/b lab #template">
  <a:themeElements>
    <a:clrScheme name="Streamline">
      <a:dk1>
        <a:srgbClr val="FCFBF3"/>
      </a:dk1>
      <a:lt1>
        <a:srgbClr val="B864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